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16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790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4727" y="589359"/>
            <a:ext cx="6107076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12" dirty="0">
                <a:solidFill>
                  <a:srgbClr val="000000"/>
                </a:solidFill>
                <a:latin typeface="adobe-caslon-w01-smbd" pitchFamily="34" charset="0"/>
                <a:ea typeface="adobe-caslon-w01-smbd" pitchFamily="34" charset="-122"/>
                <a:cs typeface="adobe-caslon-w01-smbd" pitchFamily="34" charset="-120"/>
              </a:rPr>
              <a:t>A Hybrid Recommender System for H&amp;M Fashion Recommendation</a:t>
            </a:r>
            <a:endParaRPr lang="en-US" sz="2512" dirty="0"/>
          </a:p>
        </p:txBody>
      </p:sp>
      <p:sp>
        <p:nvSpPr>
          <p:cNvPr id="3" name="Text 1"/>
          <p:cNvSpPr/>
          <p:nvPr/>
        </p:nvSpPr>
        <p:spPr>
          <a:xfrm>
            <a:off x="544919" y="1928813"/>
            <a:ext cx="3741331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6" dirty="0">
                <a:solidFill>
                  <a:srgbClr val="000000"/>
                </a:solidFill>
                <a:latin typeface="adobe-caslon-w01-smbd" pitchFamily="34" charset="0"/>
                <a:ea typeface="adobe-caslon-w01-smbd" pitchFamily="34" charset="-122"/>
                <a:cs typeface="adobe-caslon-w01-smbd" pitchFamily="34" charset="-120"/>
              </a:rPr>
              <a:t>CSCE676 Data Mining final project</a:t>
            </a:r>
            <a:r>
              <a:rPr lang="en-US" sz="1256" dirty="0">
                <a:solidFill>
                  <a:srgbClr val="000000"/>
                </a:solidFill>
              </a:rPr>
              <a:t>
</a:t>
            </a:r>
            <a:r>
              <a:rPr lang="en-US" sz="1256" dirty="0">
                <a:solidFill>
                  <a:srgbClr val="000000"/>
                </a:solidFill>
                <a:latin typeface="adobe-caslon-w01-smbd" pitchFamily="34" charset="0"/>
                <a:ea typeface="adobe-caslon-w01-smbd" pitchFamily="34" charset="-122"/>
                <a:cs typeface="adobe-caslon-w01-smbd" pitchFamily="34" charset="-120"/>
              </a:rPr>
              <a:t>​Xiaoyun Chu</a:t>
            </a:r>
            <a:endParaRPr lang="en-US" sz="1256" dirty="0"/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E16BE4DF-5830-EE41-99C1-D5A24905F5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07"/>
    </mc:Choice>
    <mc:Fallback>
      <p:transition spd="slow" advTm="127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988" y="596057"/>
            <a:ext cx="4598581" cy="334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667"/>
              </a:lnSpc>
              <a:buNone/>
            </a:pPr>
            <a:r>
              <a:rPr lang="en-US" sz="2355" b="1" dirty="0">
                <a:solidFill>
                  <a:srgbClr val="2C3E50"/>
                </a:solidFill>
                <a:latin typeface="playfair-display-v2" pitchFamily="34" charset="0"/>
                <a:ea typeface="playfair-display-v2" pitchFamily="34" charset="-122"/>
              </a:rPr>
              <a:t>Bac</a:t>
            </a:r>
            <a:r>
              <a:rPr lang="en-US" altLang="zh-CN" sz="2355" b="1" dirty="0">
                <a:solidFill>
                  <a:srgbClr val="2C3E50"/>
                </a:solidFill>
                <a:latin typeface="playfair-display-v2" pitchFamily="34" charset="0"/>
                <a:ea typeface="playfair-display-v2" pitchFamily="34" charset="-122"/>
              </a:rPr>
              <a:t>kground</a:t>
            </a:r>
            <a:endParaRPr lang="en-US" sz="2355" b="1" dirty="0">
              <a:solidFill>
                <a:srgbClr val="2C3E50"/>
              </a:solidFill>
              <a:latin typeface="playfair-display-v2" pitchFamily="34" charset="0"/>
              <a:ea typeface="playfair-display-v2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5541" y="2089547"/>
            <a:ext cx="1236035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1667"/>
              </a:lnSpc>
              <a:buNone/>
            </a:pPr>
            <a:r>
              <a:rPr lang="en-US" sz="1779" b="1" dirty="0">
                <a:solidFill>
                  <a:srgbClr val="C62828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Challenges </a:t>
            </a:r>
            <a:endParaRPr lang="en-US" sz="1779" dirty="0"/>
          </a:p>
        </p:txBody>
      </p:sp>
      <p:sp>
        <p:nvSpPr>
          <p:cNvPr id="4" name="Text 2"/>
          <p:cNvSpPr/>
          <p:nvPr/>
        </p:nvSpPr>
        <p:spPr>
          <a:xfrm>
            <a:off x="1315779" y="2096244"/>
            <a:ext cx="1216099" cy="20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779" b="1" dirty="0">
                <a:solidFill>
                  <a:srgbClr val="C62828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Motivation </a:t>
            </a:r>
            <a:endParaRPr lang="en-US" sz="1779" dirty="0"/>
          </a:p>
        </p:txBody>
      </p:sp>
      <p:sp>
        <p:nvSpPr>
          <p:cNvPr id="5" name="Text 3"/>
          <p:cNvSpPr/>
          <p:nvPr/>
        </p:nvSpPr>
        <p:spPr>
          <a:xfrm>
            <a:off x="4312831" y="2109639"/>
            <a:ext cx="531628" cy="20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1779" b="1" dirty="0">
                <a:solidFill>
                  <a:srgbClr val="C62828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Data </a:t>
            </a:r>
            <a:endParaRPr lang="en-US" sz="1779" dirty="0"/>
          </a:p>
        </p:txBody>
      </p:sp>
      <p:sp>
        <p:nvSpPr>
          <p:cNvPr id="6" name="Text 4"/>
          <p:cNvSpPr/>
          <p:nvPr/>
        </p:nvSpPr>
        <p:spPr>
          <a:xfrm>
            <a:off x="6419407" y="2504777"/>
            <a:ext cx="1847407" cy="1212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Sparse implicit feedback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Massive user-item space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Cold Start Problem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Need accuracy + low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latency at scale </a:t>
            </a:r>
            <a:endParaRPr lang="en-US" sz="994" dirty="0"/>
          </a:p>
        </p:txBody>
      </p:sp>
      <p:sp>
        <p:nvSpPr>
          <p:cNvPr id="7" name="Text 5"/>
          <p:cNvSpPr/>
          <p:nvPr/>
        </p:nvSpPr>
        <p:spPr>
          <a:xfrm>
            <a:off x="1143000" y="2511475"/>
            <a:ext cx="1880634" cy="1875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Large catalog; limited user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exposure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Personalization improves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discovery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Better User Experience →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higher conversion/retention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Personalized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recommendations can 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increase company profits </a:t>
            </a:r>
            <a:endParaRPr lang="en-US" sz="994" dirty="0"/>
          </a:p>
        </p:txBody>
      </p:sp>
      <p:sp>
        <p:nvSpPr>
          <p:cNvPr id="8" name="Text 6"/>
          <p:cNvSpPr/>
          <p:nvPr/>
        </p:nvSpPr>
        <p:spPr>
          <a:xfrm>
            <a:off x="3781203" y="2511475"/>
            <a:ext cx="1807535" cy="1419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Files: transaction.csv, customers.csv, articles.csv, images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Total users: 1,362,281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Total items: 104,547</a:t>
            </a:r>
            <a:r>
              <a:rPr lang="en-US" sz="994" dirty="0">
                <a:solidFill>
                  <a:srgbClr val="000000"/>
                </a:solidFill>
              </a:rPr>
              <a:t>
</a:t>
            </a:r>
            <a:r>
              <a:rPr lang="en-US" sz="994" dirty="0">
                <a:solidFill>
                  <a:srgbClr val="212121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Total interactions: 31,788,324</a:t>
            </a:r>
            <a:endParaRPr lang="en-US" sz="994" dirty="0"/>
          </a:p>
        </p:txBody>
      </p:sp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7B961303-F241-0344-BC51-5F44230141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487"/>
    </mc:Choice>
    <mc:Fallback>
      <p:transition spd="slow" advTm="4148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48" y="341561"/>
            <a:ext cx="7024134" cy="36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55" b="1" dirty="0">
                <a:solidFill>
                  <a:srgbClr val="2C3E50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Method: Two-Stage Recommendation Pipeline </a:t>
            </a:r>
            <a:endParaRPr lang="en-US" sz="2355" dirty="0"/>
          </a:p>
        </p:txBody>
      </p:sp>
      <p:sp>
        <p:nvSpPr>
          <p:cNvPr id="3" name="Text 1"/>
          <p:cNvSpPr/>
          <p:nvPr/>
        </p:nvSpPr>
        <p:spPr>
          <a:xfrm>
            <a:off x="438593" y="843855"/>
            <a:ext cx="3608424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994" b="1" dirty="0">
                <a:solidFill>
                  <a:srgbClr val="2C3E50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Retrieval \rightarrow Ranking \rightarrow Evaluation </a:t>
            </a:r>
            <a:endParaRPr lang="en-US" sz="994" dirty="0"/>
          </a:p>
        </p:txBody>
      </p:sp>
      <p:sp>
        <p:nvSpPr>
          <p:cNvPr id="4" name="Text 2"/>
          <p:cNvSpPr/>
          <p:nvPr/>
        </p:nvSpPr>
        <p:spPr>
          <a:xfrm>
            <a:off x="897122" y="1379637"/>
            <a:ext cx="1701209" cy="20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256" b="1" dirty="0">
                <a:solidFill>
                  <a:srgbClr val="000000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1) Retrieval (ItemCF) </a:t>
            </a:r>
            <a:endParaRPr lang="en-US" sz="1256" dirty="0"/>
          </a:p>
        </p:txBody>
      </p:sp>
      <p:sp>
        <p:nvSpPr>
          <p:cNvPr id="5" name="Text 3"/>
          <p:cNvSpPr/>
          <p:nvPr/>
        </p:nvSpPr>
        <p:spPr>
          <a:xfrm>
            <a:off x="3615070" y="1814959"/>
            <a:ext cx="202683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Item-item similarity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(co-occurrence / cosine) </a:t>
            </a:r>
            <a:endParaRPr lang="en-US" sz="1047" dirty="0"/>
          </a:p>
        </p:txBody>
      </p:sp>
      <p:sp>
        <p:nvSpPr>
          <p:cNvPr id="6" name="Text 4"/>
          <p:cNvSpPr/>
          <p:nvPr/>
        </p:nvSpPr>
        <p:spPr>
          <a:xfrm>
            <a:off x="923703" y="1814959"/>
            <a:ext cx="2020186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User purchases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(daily records) </a:t>
            </a:r>
            <a:endParaRPr lang="en-US" sz="1047" dirty="0"/>
          </a:p>
        </p:txBody>
      </p:sp>
      <p:sp>
        <p:nvSpPr>
          <p:cNvPr id="7" name="Text 5"/>
          <p:cNvSpPr/>
          <p:nvPr/>
        </p:nvSpPr>
        <p:spPr>
          <a:xfrm>
            <a:off x="6519087" y="1814959"/>
            <a:ext cx="1761017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Candidate generation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(Top-N similar items) </a:t>
            </a:r>
            <a:endParaRPr lang="en-US" sz="1047" dirty="0"/>
          </a:p>
        </p:txBody>
      </p:sp>
      <p:sp>
        <p:nvSpPr>
          <p:cNvPr id="8" name="Text 6"/>
          <p:cNvSpPr/>
          <p:nvPr/>
        </p:nvSpPr>
        <p:spPr>
          <a:xfrm>
            <a:off x="6818128" y="2337346"/>
            <a:ext cx="1162936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333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Fast, high-recall </a:t>
            </a:r>
            <a:endParaRPr lang="en-US" sz="1047" dirty="0"/>
          </a:p>
        </p:txBody>
      </p:sp>
      <p:sp>
        <p:nvSpPr>
          <p:cNvPr id="9" name="Text 7"/>
          <p:cNvSpPr/>
          <p:nvPr/>
        </p:nvSpPr>
        <p:spPr>
          <a:xfrm>
            <a:off x="804087" y="2658814"/>
            <a:ext cx="2053413" cy="221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1256" b="1" dirty="0">
                <a:solidFill>
                  <a:srgbClr val="000000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2) Ranking (DNN Ranker) </a:t>
            </a:r>
            <a:endParaRPr lang="en-US" sz="1256" dirty="0"/>
          </a:p>
        </p:txBody>
      </p:sp>
      <p:sp>
        <p:nvSpPr>
          <p:cNvPr id="10" name="Text 8"/>
          <p:cNvSpPr/>
          <p:nvPr/>
        </p:nvSpPr>
        <p:spPr>
          <a:xfrm>
            <a:off x="837314" y="3100834"/>
            <a:ext cx="2126512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Collaborative embeddings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(Word2Vec / Skip-Gram) </a:t>
            </a:r>
            <a:endParaRPr lang="en-US" sz="1047" dirty="0"/>
          </a:p>
        </p:txBody>
      </p:sp>
      <p:sp>
        <p:nvSpPr>
          <p:cNvPr id="11" name="Text 9"/>
          <p:cNvSpPr/>
          <p:nvPr/>
        </p:nvSpPr>
        <p:spPr>
          <a:xfrm>
            <a:off x="5754872" y="3716982"/>
            <a:ext cx="910413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Ranked list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(Top-(K) </a:t>
            </a:r>
            <a:endParaRPr lang="en-US" sz="1047" dirty="0"/>
          </a:p>
        </p:txBody>
      </p:sp>
      <p:sp>
        <p:nvSpPr>
          <p:cNvPr id="12" name="Text 10"/>
          <p:cNvSpPr/>
          <p:nvPr/>
        </p:nvSpPr>
        <p:spPr>
          <a:xfrm>
            <a:off x="7270012" y="3716982"/>
            <a:ext cx="1282552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Scoring metric: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MAP@K </a:t>
            </a:r>
            <a:endParaRPr lang="en-US" sz="1047" dirty="0"/>
          </a:p>
        </p:txBody>
      </p:sp>
      <p:sp>
        <p:nvSpPr>
          <p:cNvPr id="13" name="Text 11"/>
          <p:cNvSpPr/>
          <p:nvPr/>
        </p:nvSpPr>
        <p:spPr>
          <a:xfrm>
            <a:off x="4040372" y="3716982"/>
            <a:ext cx="1023384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DNN ranking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model </a:t>
            </a:r>
            <a:endParaRPr lang="en-US" sz="1047" dirty="0"/>
          </a:p>
        </p:txBody>
      </p:sp>
      <p:sp>
        <p:nvSpPr>
          <p:cNvPr id="14" name="Text 12"/>
          <p:cNvSpPr/>
          <p:nvPr/>
        </p:nvSpPr>
        <p:spPr>
          <a:xfrm>
            <a:off x="923703" y="3723680"/>
            <a:ext cx="1967023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6667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Text-based embeddings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(TF-IDF) </a:t>
            </a:r>
            <a:endParaRPr lang="en-US" sz="1047" dirty="0"/>
          </a:p>
        </p:txBody>
      </p:sp>
      <p:sp>
        <p:nvSpPr>
          <p:cNvPr id="15" name="Text 13"/>
          <p:cNvSpPr/>
          <p:nvPr/>
        </p:nvSpPr>
        <p:spPr>
          <a:xfrm>
            <a:off x="544919" y="4353223"/>
            <a:ext cx="2757820" cy="401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Historical dense features </a:t>
            </a:r>
            <a:r>
              <a:rPr lang="en-US" sz="1047" dirty="0">
                <a:solidFill>
                  <a:srgbClr val="000000"/>
                </a:solidFill>
              </a:rPr>
              <a:t>
</a:t>
            </a:r>
            <a:r>
              <a:rPr lang="en-US" sz="1047" dirty="0">
                <a:solidFill>
                  <a:srgbClr val="000000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(recency, frequency, price, category) </a:t>
            </a:r>
            <a:endParaRPr lang="en-US" sz="1047" dirty="0"/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97278C6F-AB47-7848-A6B1-407512F1431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211"/>
    </mc:Choice>
    <mc:Fallback>
      <p:transition spd="slow" advTm="342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9520" y="375047"/>
            <a:ext cx="2226192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400" b="1" dirty="0">
                <a:solidFill>
                  <a:srgbClr val="2C3E50"/>
                </a:solidFill>
                <a:latin typeface="playfair-display-v2" pitchFamily="34" charset="0"/>
                <a:ea typeface="playfair-display-v2" pitchFamily="34" charset="-122"/>
              </a:rPr>
              <a:t>Conclusion </a:t>
            </a:r>
          </a:p>
        </p:txBody>
      </p:sp>
      <p:sp>
        <p:nvSpPr>
          <p:cNvPr id="3" name="Text 1"/>
          <p:cNvSpPr/>
          <p:nvPr/>
        </p:nvSpPr>
        <p:spPr>
          <a:xfrm>
            <a:off x="578145" y="1151930"/>
            <a:ext cx="1528430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7" b="1" dirty="0">
                <a:solidFill>
                  <a:srgbClr val="000000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Key Takeaway </a:t>
            </a:r>
            <a:endParaRPr lang="en-US" sz="1727" dirty="0"/>
          </a:p>
        </p:txBody>
      </p:sp>
      <p:sp>
        <p:nvSpPr>
          <p:cNvPr id="4" name="Text 2"/>
          <p:cNvSpPr/>
          <p:nvPr/>
        </p:nvSpPr>
        <p:spPr>
          <a:xfrm>
            <a:off x="591436" y="1513582"/>
            <a:ext cx="7569052" cy="8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333"/>
              </a:lnSpc>
              <a:buNone/>
            </a:pP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Effective fashion recommendation requires modeling both recency and the long-tail of items.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Incorporating a time-decay factor improves responsiveness, while addressing long-tailed distribution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enhances discovery. By utilizing a hybrid retrieval + ranking framework, the system achieves greater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relevance, diversity, and practical scalability. </a:t>
            </a:r>
            <a:endParaRPr lang="en-US" sz="1099" dirty="0"/>
          </a:p>
        </p:txBody>
      </p:sp>
      <p:sp>
        <p:nvSpPr>
          <p:cNvPr id="5" name="Text 3"/>
          <p:cNvSpPr/>
          <p:nvPr/>
        </p:nvSpPr>
        <p:spPr>
          <a:xfrm>
            <a:off x="564855" y="2993678"/>
            <a:ext cx="1395523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1727" b="1" dirty="0">
                <a:solidFill>
                  <a:srgbClr val="000000"/>
                </a:solidFill>
                <a:latin typeface="playfair-display-v2" pitchFamily="34" charset="0"/>
                <a:ea typeface="playfair-display-v2" pitchFamily="34" charset="-122"/>
                <a:cs typeface="playfair-display-v2" pitchFamily="34" charset="-120"/>
              </a:rPr>
              <a:t>Future Work </a:t>
            </a:r>
            <a:endParaRPr lang="en-US" sz="1727" dirty="0"/>
          </a:p>
        </p:txBody>
      </p:sp>
      <p:sp>
        <p:nvSpPr>
          <p:cNvPr id="6" name="Text 4"/>
          <p:cNvSpPr/>
          <p:nvPr/>
        </p:nvSpPr>
        <p:spPr>
          <a:xfrm>
            <a:off x="651244" y="3368725"/>
            <a:ext cx="7874738" cy="1433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1667"/>
              </a:lnSpc>
              <a:buNone/>
            </a:pP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· Multimodal recommendation: Incorporate image, text, and metadata for richer item representation.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· Sequential/time-aware modeling: Evolve to sequence-aware user modeling to capture dynamic fashion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preferences.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· Multi-objective learning with MMOE: Jointly optimize for clicks, purchases, diversity and business value.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· Online A/B testing... Validate performance with business constraints, seasonality, and inventory </a:t>
            </a:r>
            <a:r>
              <a:rPr lang="en-US" sz="1099" dirty="0">
                <a:solidFill>
                  <a:srgbClr val="000000"/>
                </a:solidFill>
              </a:rPr>
              <a:t>
</a:t>
            </a:r>
            <a:r>
              <a:rPr lang="en-US" sz="1099" dirty="0">
                <a:solidFill>
                  <a:srgbClr val="333333"/>
                </a:solidFill>
                <a:latin typeface="work-sans-v2" pitchFamily="34" charset="0"/>
                <a:ea typeface="work-sans-v2" pitchFamily="34" charset="-122"/>
                <a:cs typeface="work-sans-v2" pitchFamily="34" charset="-120"/>
              </a:rPr>
              <a:t>considerations. </a:t>
            </a:r>
            <a:endParaRPr lang="en-US" sz="1099" dirty="0"/>
          </a:p>
        </p:txBody>
      </p:sp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239454CB-BCFE-9547-B385-1FE3E6F9C1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32634" y="316111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308"/>
    </mc:Choice>
    <mc:Fallback>
      <p:transition spd="slow" advTm="3230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336</Words>
  <Application>Microsoft Macintosh PowerPoint</Application>
  <PresentationFormat>On-screen Show (16:9)</PresentationFormat>
  <Paragraphs>32</Paragraphs>
  <Slides>4</Slides>
  <Notes>4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adobe-caslon-w01-smbd</vt:lpstr>
      <vt:lpstr>playfair-display-v2</vt:lpstr>
      <vt:lpstr>work-sans-v2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Wixel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 Recommendation Project: Strategic Overview</dc:title>
  <dc:subject>PptxGenJS Presentation</dc:subject>
  <dc:creator>Wixel Slides</dc:creator>
  <cp:lastModifiedBy>Chu, Xiaoyun</cp:lastModifiedBy>
  <cp:revision>3</cp:revision>
  <dcterms:created xsi:type="dcterms:W3CDTF">2026-04-18T00:49:42Z</dcterms:created>
  <dcterms:modified xsi:type="dcterms:W3CDTF">2026-04-18T01:31:29Z</dcterms:modified>
</cp:coreProperties>
</file>